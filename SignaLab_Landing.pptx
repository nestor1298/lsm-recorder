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46E5"/>
                </a:solidFill>
                <a:latin typeface="Arial"/>
              </a:defRPr>
            </a:pPr>
            <a:r>
              <a:t>SignaLab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11827"/>
                </a:solidFill>
                <a:latin typeface="Arial"/>
              </a:defRPr>
            </a:pPr>
            <a:r>
              <a:t>Documenting Mexican Sign</a:t>
            </a:r>
            <a:br/>
            <a:r>
              <a:t>Language, One Hand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Arial"/>
              </a:defRPr>
            </a:pPr>
            <a:r>
              <a:t>Computational linguistics research advancing linguistic rights</a:t>
            </a:r>
            <a:br/>
            <a:r>
              <a:t>in education and the future of work for the Deaf community.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029200"/>
            <a:ext cx="2926080" cy="6400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Start Contributing  →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1645920"/>
            <a:ext cx="3200400" cy="32004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09660" y="2125980"/>
            <a:ext cx="2240280" cy="22402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Arial"/>
              </a:defRPr>
            </a:pPr>
            <a:r>
              <a:t>[ Signa — waving hello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Arial"/>
              </a:defRPr>
            </a:pPr>
            <a:r>
              <a:t>lsm-recorder.vercel.app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Arial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EF2FF"/>
                </a:solidFill>
                <a:latin typeface="Arial"/>
              </a:defRPr>
            </a:pPr>
            <a:r>
              <a:t>OUR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Build the first open-source phonological</a:t>
            </a:r>
            <a:br/>
            <a:r>
              <a:t>documentation system for Mexican</a:t>
            </a:r>
            <a:br/>
            <a:r>
              <a:t>Sign Language (LSM)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EEF2FF"/>
                </a:solidFill>
                <a:latin typeface="Arial"/>
              </a:defRPr>
            </a:pPr>
            <a:r>
              <a:t>We combine the Cruz Aldrete (2008) phonological model with modern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EEF2FF"/>
                </a:solidFill>
                <a:latin typeface="Arial"/>
              </a:defRPr>
            </a:pPr>
            <a:r>
              <a:t>computer vision to create a complete pipeline: from video recording,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EEF2FF"/>
                </a:solidFill>
                <a:latin typeface="Arial"/>
              </a:defRPr>
            </a:pPr>
            <a:r>
              <a:t>through linguistic annotation, to 3D avatar animation.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EEF2FF"/>
                </a:solidFill>
                <a:latin typeface="Arial"/>
              </a:defRPr>
            </a:pPr>
          </a:p>
          <a:p>
            <a:pPr algn="l">
              <a:spcAft>
                <a:spcPts val="679"/>
              </a:spcAft>
              <a:defRPr sz="1700" b="0">
                <a:solidFill>
                  <a:srgbClr val="EEF2FF"/>
                </a:solidFill>
                <a:latin typeface="Arial"/>
              </a:defRPr>
            </a:pPr>
            <a:r>
              <a:t>Every sign. Every handshape. Every movement — documented and preserved.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Arial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  <a:latin typeface="Arial"/>
              </a:defRPr>
            </a:pPr>
            <a:r>
              <a:t>WHAT SIGNALAB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</a:defRPr>
            </a:pPr>
            <a:r>
              <a:t>Four tools, one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103120"/>
            <a:ext cx="2377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237744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11827"/>
                </a:solidFill>
                <a:latin typeface="Arial"/>
              </a:defRPr>
            </a:pPr>
            <a:r>
              <a:t>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Arial"/>
              </a:defRPr>
            </a:pPr>
            <a:r>
              <a:t>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Arial"/>
              </a:defRPr>
            </a:pPr>
            <a:r>
              <a:t>Capture sign language videos</a:t>
            </a:r>
            <a:br/>
            <a:r>
              <a:t>with guided prompts for each</a:t>
            </a:r>
            <a:br/>
            <a:r>
              <a:t>of the 101 handshape</a:t>
            </a:r>
            <a:br/>
            <a:r>
              <a:t>configurations.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2103120"/>
            <a:ext cx="2377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94760" y="2103120"/>
            <a:ext cx="23774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11827"/>
                </a:solidFill>
                <a:latin typeface="Arial"/>
              </a:defRPr>
            </a:pPr>
            <a:r>
              <a:t>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Arial"/>
              </a:defRPr>
            </a:pPr>
            <a:r>
              <a:t>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38328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Arial"/>
              </a:defRPr>
            </a:pPr>
            <a:r>
              <a:t>Browse the complete Cruz</a:t>
            </a:r>
            <a:br/>
            <a:r>
              <a:t>Aldrete inventory — 101 CMs</a:t>
            </a:r>
            <a:br/>
            <a:r>
              <a:t>organized by frequency tier</a:t>
            </a:r>
            <a:br/>
            <a:r>
              <a:t>and finger group.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103120"/>
            <a:ext cx="2377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2103120"/>
            <a:ext cx="23774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11827"/>
                </a:solidFill>
                <a:latin typeface="Arial"/>
              </a:defRPr>
            </a:pPr>
            <a:r>
              <a:t>✏️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Arial"/>
              </a:defRPr>
            </a:pPr>
            <a:r>
              <a:t>Annotate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38328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Arial"/>
              </a:defRPr>
            </a:pPr>
            <a:r>
              <a:t>Mark phonological segments</a:t>
            </a:r>
            <a:br/>
            <a:r>
              <a:t>using the PSHR timeline:</a:t>
            </a:r>
            <a:br/>
            <a:r>
              <a:t>Preparation, Stroke, Hold,</a:t>
            </a:r>
            <a:br/>
            <a:r>
              <a:t>Retraction.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2103120"/>
            <a:ext cx="2377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2103120"/>
            <a:ext cx="23774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11827"/>
                </a:solidFill>
                <a:latin typeface="Arial"/>
              </a:defRPr>
            </a:pPr>
            <a:r>
              <a:t>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Arial"/>
              </a:defRPr>
            </a:pPr>
            <a:r>
              <a:t>Body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338328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Arial"/>
              </a:defRPr>
            </a:pPr>
            <a:r>
              <a:t>Select articulation locations</a:t>
            </a:r>
            <a:br/>
            <a:r>
              <a:t>on an interactive body</a:t>
            </a:r>
            <a:br/>
            <a:r>
              <a:t>silhouette — 80 UB points</a:t>
            </a:r>
            <a:br/>
            <a:r>
              <a:t>across 7 body regions.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Arial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390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Arial"/>
              </a:defRPr>
            </a:pPr>
            <a:r>
              <a:t>FOR EDUCATORS &amp; THE DEAF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</a:defRPr>
            </a:pPr>
            <a:r>
              <a:t>Visual-first tools</a:t>
            </a:r>
            <a:br/>
            <a:r>
              <a:t>built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1600" b="0">
                <a:solidFill>
                  <a:srgbClr val="4B5563"/>
                </a:solidFill>
                <a:latin typeface="Arial"/>
              </a:defRPr>
            </a:pPr>
            <a:r>
              <a:t>→  Record signs at your own pace with guided prompts</a:t>
            </a:r>
          </a:p>
          <a:p>
            <a:pPr algn="l">
              <a:spcAft>
                <a:spcPts val="960"/>
              </a:spcAft>
              <a:defRPr sz="1600" b="0">
                <a:solidFill>
                  <a:srgbClr val="4B5563"/>
                </a:solidFill>
                <a:latin typeface="Arial"/>
              </a:defRPr>
            </a:pPr>
            <a:r>
              <a:t>→  Every tool is visual — no linguistic jargon required</a:t>
            </a:r>
          </a:p>
          <a:p>
            <a:pPr algn="l">
              <a:spcAft>
                <a:spcPts val="960"/>
              </a:spcAft>
              <a:defRPr sz="1600" b="0">
                <a:solidFill>
                  <a:srgbClr val="4B5563"/>
                </a:solidFill>
                <a:latin typeface="Arial"/>
              </a:defRPr>
            </a:pPr>
            <a:r>
              <a:t>→  Contribute to the largest LSM video corpus</a:t>
            </a:r>
          </a:p>
          <a:p>
            <a:pPr algn="l">
              <a:spcAft>
                <a:spcPts val="960"/>
              </a:spcAft>
              <a:defRPr sz="1600" b="0">
                <a:solidFill>
                  <a:srgbClr val="4B5563"/>
                </a:solidFill>
                <a:latin typeface="Arial"/>
              </a:defRPr>
            </a:pPr>
            <a:r>
              <a:t>→  Help preserve and standardize LSM for education</a:t>
            </a:r>
          </a:p>
          <a:p>
            <a:pPr algn="l">
              <a:spcAft>
                <a:spcPts val="960"/>
              </a:spcAft>
              <a:defRPr sz="1600" b="0">
                <a:solidFill>
                  <a:srgbClr val="4B5563"/>
                </a:solidFill>
                <a:latin typeface="Arial"/>
              </a:defRPr>
            </a:pPr>
            <a:r>
              <a:t>→  Your recordings train AI to understand sign language</a:t>
            </a:r>
          </a:p>
        </p:txBody>
      </p:sp>
      <p:sp>
        <p:nvSpPr>
          <p:cNvPr id="6" name="Oval 5"/>
          <p:cNvSpPr/>
          <p:nvPr/>
        </p:nvSpPr>
        <p:spPr>
          <a:xfrm>
            <a:off x="7772400" y="1828800"/>
            <a:ext cx="2743200" cy="27432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83880" y="2240280"/>
            <a:ext cx="1920239" cy="1920239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Arial"/>
              </a:defRPr>
            </a:pPr>
            <a:r>
              <a:t>[ Signa — teaching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5029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CA3AF"/>
                </a:solidFill>
                <a:latin typeface="Arial"/>
              </a:defRPr>
            </a:pPr>
            <a:r>
              <a:t>"Nothing about us without us."</a:t>
            </a:r>
            <a:br/>
            <a:r>
              <a:t>Language rights start with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Arial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Arial"/>
              </a:defRPr>
            </a:pPr>
            <a:r>
              <a:t>FOR RESEARCHERS &amp; LINGUISTS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Arial"/>
              </a:defRPr>
            </a:pPr>
            <a:r>
              <a:t>Phonological precision meets modern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Arial"/>
              </a:defRPr>
            </a:pPr>
            <a:r>
              <a:t>5-Channel 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CM — Configuración Manual (handshape)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UB — Ubicación (body location)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MV — Movimiento (movement path &amp; type)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OR — Orientación (palm &amp; finger direction)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RNM — Rasgos No Manuales (face &amp; head)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Arial"/>
              </a:defRPr>
            </a:pPr>
            <a:r>
              <a:t>Data &amp;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PSHR timeline segmentation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JSON export for every annotation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Cruz Aldrete (2008) model compliance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MediaPipe hand keypoint extraction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Open-source — all data is yours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937760"/>
            <a:ext cx="1005840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074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1307A"/>
                </a:solidFill>
                <a:latin typeface="Courier New"/>
              </a:defRPr>
            </a:pPr>
            <a:r>
              <a:t>{ "cm_id": 1,  "phase": "STROKE",  "location": "Frente",  "contour": "ARC",  "palm": "FORWARD"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Arial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EF2FF"/>
                </a:solidFill>
                <a:latin typeface="Arial"/>
              </a:defRPr>
            </a:pPr>
            <a:r>
              <a:t>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Building at scale from 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Arial"/>
              </a:defRPr>
            </a:pPr>
            <a: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Handshape</a:t>
            </a:r>
            <a:br/>
            <a:r>
              <a:t>Configurations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F2FF"/>
                </a:solidFill>
                <a:latin typeface="Arial"/>
              </a:defRPr>
            </a:pPr>
            <a:r>
              <a:t>Complete Cruz Aldrete</a:t>
            </a:r>
            <a:br/>
            <a:r>
              <a:t>inventory digitized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Arial"/>
              </a:defRPr>
            </a:pPr>
            <a:r>
              <a:t>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840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Body</a:t>
            </a:r>
            <a:br/>
            <a:r>
              <a:t>Locations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663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F2FF"/>
                </a:solidFill>
                <a:latin typeface="Arial"/>
              </a:defRPr>
            </a:pPr>
            <a:r>
              <a:t>Interactive articulation</a:t>
            </a:r>
            <a:br/>
            <a:r>
              <a:t>points mapped to SVG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Annotation</a:t>
            </a:r>
            <a:br/>
            <a:r>
              <a:t>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663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F2FF"/>
                </a:solidFill>
                <a:latin typeface="Arial"/>
              </a:defRPr>
            </a:pPr>
            <a:r>
              <a:t>CM, UB, MV, OR, RNM</a:t>
            </a:r>
            <a:br/>
            <a:r>
              <a:t>per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840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Frequency</a:t>
            </a:r>
            <a:br/>
            <a:r>
              <a:t>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663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F2FF"/>
                </a:solidFill>
                <a:latin typeface="Arial"/>
              </a:defRPr>
            </a:pPr>
            <a:r>
              <a:t>Prioritized recording</a:t>
            </a:r>
            <a:br/>
            <a:r>
              <a:t>by usage frequency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Arial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  <a:latin typeface="Arial"/>
              </a:defRPr>
            </a:pPr>
            <a:r>
              <a:t>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</a:defRPr>
            </a:pPr>
            <a:r>
              <a:t>From video to avatar — end to end</a:t>
            </a:r>
          </a:p>
        </p:txBody>
      </p:sp>
      <p:sp>
        <p:nvSpPr>
          <p:cNvPr id="4" name="Oval 3"/>
          <p:cNvSpPr/>
          <p:nvPr/>
        </p:nvSpPr>
        <p:spPr>
          <a:xfrm>
            <a:off x="1508760" y="237744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Arial"/>
              </a:defRPr>
            </a:pPr>
            <a:r>
              <a:t>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Arial"/>
              </a:defRPr>
            </a:pPr>
            <a:r>
              <a:t>Capture video of</a:t>
            </a:r>
            <a:br/>
            <a:r>
              <a:t>each handshape</a:t>
            </a:r>
            <a:br/>
            <a:r>
              <a:t>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3611880" y="237744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Arial"/>
              </a:defRPr>
            </a:pPr>
            <a:r>
              <a:t>Annotate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749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Arial"/>
              </a:defRPr>
            </a:pPr>
            <a:r>
              <a:t>Segment &amp; label</a:t>
            </a:r>
            <a:br/>
            <a:r>
              <a:t>using LSM-PN</a:t>
            </a:r>
            <a:br/>
            <a:r>
              <a:t>5-channel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5715000" y="23774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Arial"/>
              </a:defRPr>
            </a:pPr>
            <a:r>
              <a:t>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749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Arial"/>
              </a:defRPr>
            </a:pPr>
            <a:r>
              <a:t>MediaPipe hand</a:t>
            </a:r>
            <a:br/>
            <a:r>
              <a:t>keypoints + body</a:t>
            </a:r>
            <a:br/>
            <a:r>
              <a:t>pose estimation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3774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Arial"/>
              </a:defRPr>
            </a:pPr>
            <a:r>
              <a:t>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49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Arial"/>
              </a:defRPr>
            </a:pPr>
            <a:r>
              <a:t>Train ML models</a:t>
            </a:r>
            <a:br/>
            <a:r>
              <a:t>on phonological</a:t>
            </a:r>
            <a:br/>
            <a:r>
              <a:t>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9921240" y="237744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Arial"/>
              </a:defRPr>
            </a:pPr>
            <a:r>
              <a:t>Animate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749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Arial"/>
              </a:defRPr>
            </a:pPr>
            <a:r>
              <a:t>Drive 3D avatar</a:t>
            </a:r>
            <a:br/>
            <a:r>
              <a:t>hands from</a:t>
            </a:r>
            <a:br/>
            <a:r>
              <a:t>notation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120640"/>
            <a:ext cx="10058400" cy="9144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52578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1307A"/>
                </a:solidFill>
                <a:latin typeface="Arial"/>
              </a:defRPr>
            </a:pPr>
            <a:r>
              <a:t>Phase 1 (current): Record + Annotate web app    |    Phase 2: Extract + Classify ML pipeline    |    Phase 3: Avatar animation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Arial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20640" y="731520"/>
            <a:ext cx="2011680" cy="201168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22392" y="1033272"/>
            <a:ext cx="1408176" cy="140817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Arial"/>
              </a:defRPr>
            </a:pPr>
            <a:r>
              <a:t>[ Signa — celebrating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1752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Ready to help document</a:t>
            </a:r>
            <a:br/>
            <a:r>
              <a:t>Mexican Sign Language?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572000"/>
            <a:ext cx="4114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2200" b="1">
                <a:solidFill>
                  <a:srgbClr val="4F46E5"/>
                </a:solidFill>
                <a:latin typeface="Arial"/>
              </a:defRPr>
            </a:pPr>
            <a:r>
              <a:t>Open SignaLab 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5778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EF2FF"/>
                </a:solidFill>
                <a:latin typeface="Arial"/>
              </a:defRPr>
            </a:pPr>
            <a:r>
              <a:t>lsm-recorder.vercel.app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035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F2FF"/>
                </a:solidFill>
                <a:latin typeface="Arial"/>
              </a:defRPr>
            </a:pPr>
            <a:r>
              <a:t>SignaLab  ·  Computational Linguistics for Linguistic Rights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Arial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